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real cloud accounts per the brief — so everything runs locally against emulators, with production-identical code. I'll demo it first, then walk through the design. Lead with: all required features, all four bonuses, three cloud providers, and it runs in a single command from published images.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demo here. Narrate the security boundary as you click — that is what they grade. Admin sees all three clouds and can download and generate temp links; viewer is scoped to AWS only, GCP returns a no-permission state, and the temp-link button is gone entirely. Keep it to about three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BFF centralizes auth and hides cloud differences behind one contract; the facade is the single place security lives. Adding a cloud is one ~100-line adapter. The hardest problem: presigned URLs must open from the browser while the BFF talks to internal hostnames — SigV4 and SAS sign the host, so I sign against localhost via a dual-endpoint design, and never rewrite a signed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heavily-weighted criterion — show the layered, defense-in-depth chain. Every request runs the full middleware pipeline before a handler ever sees it. JWT is algorithm-pinned to block alg:none and confusion attacks; the jti denylist means logout truly revokes. Viewer scoped to AWS returns 403 PROVIDER_NOT_ALLOWED. I also ran a security-auditor pass and implemented its MUST controls, OWASP-mapped.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ties together UI/UX, containerization best-practices, and the IaC/CI bonuses. The frontend is role-aware — viewers never see the temp-link button and hit a no-permission state. Images are distroless and non-root, published to Docker Hub so it runs with zero build. Bonuses: Terraform provisions an S3 bucket with lifecycle and seeds it on LocalStack, and GitHub Actions runs gofmt/vet/build, go test -race, a LocalStack integration smoke test, and image builds.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rigor and honesty. Go for streaming io.Copy, first-party SDKs for all three clouds, and a static distroless binary. JWT+RBAC over OIDC because it is right-sized for the brief. Emulators because the code is production-identical — swap one endpoint for real cloud. Be upfront about trade-offs and the production path. End by inviting them to dive into any part of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300" y="2336006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33500" y="2374106"/>
            <a:ext cx="32476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TAKE-HOME DELIVERY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876300" y="2945606"/>
            <a:ext cx="8004652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b="1" spc="-139" kern="0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Log Access Service</a:t>
            </a:r>
            <a:endParaRPr lang="en-US" sz="5550" dirty="0"/>
          </a:p>
        </p:txBody>
      </p:sp>
      <p:sp>
        <p:nvSpPr>
          <p:cNvPr id="5" name="Text 2"/>
          <p:cNvSpPr/>
          <p:nvPr/>
        </p:nvSpPr>
        <p:spPr>
          <a:xfrm>
            <a:off x="876300" y="4659213"/>
            <a:ext cx="8004652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Secure, multi-cloud log access — a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BFF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</a:t>
            </a:r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SPA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76300" y="5684044"/>
            <a:ext cx="800465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Role-controlled access to log files across AWS S3, GCP GCS, and Azure Blob.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876300" y="6807994"/>
            <a:ext cx="1946821" cy="542925"/>
          </a:xfrm>
          <a:prstGeom prst="roundRect">
            <a:avLst>
              <a:gd name="adj" fmla="val 19298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34D399">
                <a:alpha val="35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275" y="6974681"/>
            <a:ext cx="209550" cy="2095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6941344"/>
            <a:ext cx="13976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required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2956471" y="6807994"/>
            <a:ext cx="2177802" cy="542925"/>
          </a:xfrm>
          <a:prstGeom prst="roundRect">
            <a:avLst>
              <a:gd name="adj" fmla="val 19298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34D399">
                <a:alpha val="3500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37446" y="6974681"/>
            <a:ext cx="209550" cy="2095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51771" y="6941344"/>
            <a:ext cx="16516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4 bonuses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5267623" y="6807994"/>
            <a:ext cx="1619696" cy="542925"/>
          </a:xfrm>
          <a:prstGeom prst="roundRect">
            <a:avLst>
              <a:gd name="adj" fmla="val 19298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34D399">
                <a:alpha val="3500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48598" y="6974681"/>
            <a:ext cx="209550" cy="2095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762923" y="6941344"/>
            <a:ext cx="101962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clouds</a:t>
            </a:r>
            <a:endParaRPr lang="en-US" sz="18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6300" y="7708106"/>
            <a:ext cx="209550" cy="2095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00150" y="7674769"/>
            <a:ext cx="721871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in one command — published Docker images, no toolchain.</a:t>
            </a:r>
            <a:endParaRPr lang="en-US" sz="1800" dirty="0"/>
          </a:p>
        </p:txBody>
      </p:sp>
      <p:sp>
        <p:nvSpPr>
          <p:cNvPr id="18" name="Shape 11"/>
          <p:cNvSpPr/>
          <p:nvPr/>
        </p:nvSpPr>
        <p:spPr>
          <a:xfrm>
            <a:off x="9333607" y="2740223"/>
            <a:ext cx="8078093" cy="4806553"/>
          </a:xfrm>
          <a:prstGeom prst="roundRect">
            <a:avLst>
              <a:gd name="adj" fmla="val 3171"/>
            </a:avLst>
          </a:prstGeom>
          <a:ln w="9525">
            <a:solidFill>
              <a:srgbClr val="222C40"/>
            </a:solidFill>
            <a:prstDash val="solid"/>
          </a:ln>
          <a:effectLst>
            <a:outerShdw sx="100000" sy="100000" kx="0" ky="0" algn="bl" rotWithShape="0" blurRad="666750" dist="285750" dir="5400000">
              <a:srgbClr val="000000">
                <a:alpha val="55000"/>
              </a:srgbClr>
            </a:outerShdw>
          </a:effectLst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3132" y="2749748"/>
            <a:ext cx="8059043" cy="47875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6300" y="800100"/>
            <a:ext cx="1000274" cy="381000"/>
          </a:xfrm>
          <a:prstGeom prst="roundRect">
            <a:avLst>
              <a:gd name="adj" fmla="val 20000"/>
            </a:avLst>
          </a:prstGeom>
          <a:solidFill>
            <a:srgbClr val="F87171"/>
          </a:solidFill>
          <a:ln/>
        </p:spPr>
      </p:sp>
      <p:sp>
        <p:nvSpPr>
          <p:cNvPr id="3" name="Shape 1"/>
          <p:cNvSpPr/>
          <p:nvPr/>
        </p:nvSpPr>
        <p:spPr>
          <a:xfrm>
            <a:off x="1028700" y="938213"/>
            <a:ext cx="104775" cy="104775"/>
          </a:xfrm>
          <a:prstGeom prst="ellipse">
            <a:avLst/>
          </a:prstGeom>
          <a:solidFill>
            <a:srgbClr val="0C1322"/>
          </a:solidFill>
          <a:ln/>
        </p:spPr>
      </p:sp>
      <p:sp>
        <p:nvSpPr>
          <p:cNvPr id="4" name="Text 2"/>
          <p:cNvSpPr/>
          <p:nvPr/>
        </p:nvSpPr>
        <p:spPr>
          <a:xfrm>
            <a:off x="1228725" y="876300"/>
            <a:ext cx="5716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0C13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009924" y="866775"/>
            <a:ext cx="225135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WALKTHROUGH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76300" y="1314450"/>
            <a:ext cx="1818894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876300" y="2562225"/>
            <a:ext cx="438150" cy="438150"/>
          </a:xfrm>
          <a:prstGeom prst="ellipse">
            <a:avLst/>
          </a:prstGeom>
          <a:solidFill>
            <a:srgbClr val="10B981">
              <a:alpha val="14000"/>
            </a:srgbClr>
          </a:solidFill>
          <a:ln w="9525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7725" y="25717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4950" y="2609850"/>
            <a:ext cx="7106692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login 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real S3 logs load in the dashboard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876300" y="3171825"/>
            <a:ext cx="438150" cy="438150"/>
          </a:xfrm>
          <a:prstGeom prst="ellipse">
            <a:avLst/>
          </a:prstGeom>
          <a:solidFill>
            <a:srgbClr val="10B981">
              <a:alpha val="14000"/>
            </a:srgbClr>
          </a:solidFill>
          <a:ln w="9525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7725" y="31813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4950" y="3219450"/>
            <a:ext cx="781621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 AWS → GCP → Azure 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same UI, three clouds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876300" y="3781425"/>
            <a:ext cx="438150" cy="438150"/>
          </a:xfrm>
          <a:prstGeom prst="ellipse">
            <a:avLst/>
          </a:prstGeom>
          <a:solidFill>
            <a:srgbClr val="10B981">
              <a:alpha val="14000"/>
            </a:srgbClr>
          </a:solidFill>
          <a:ln w="9525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7725" y="37909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4950" y="3829050"/>
            <a:ext cx="10972398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file (streamed) and </a:t>
            </a:r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a temporary link 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open it in a tab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876300" y="4391025"/>
            <a:ext cx="438150" cy="438150"/>
          </a:xfrm>
          <a:prstGeom prst="ellipse">
            <a:avLst/>
          </a:prstGeom>
          <a:solidFill>
            <a:srgbClr val="F87171">
              <a:alpha val="14000"/>
            </a:srgbClr>
          </a:solidFill>
          <a:ln w="9525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725" y="440055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4950" y="4438650"/>
            <a:ext cx="10384526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in as viewer </a:t>
            </a:r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AWS-only · GCP shows no-permission · temp-link button gone </a:t>
            </a:r>
            <a:pPr algn="l" indent="0" marL="0">
              <a:lnSpc>
                <a:spcPct val="140000"/>
              </a:lnSpc>
              <a:buNone/>
            </a:pPr>
            <a:r>
              <a:rPr lang="en-US" sz="2175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(RBAC)</a:t>
            </a:r>
            <a:endParaRPr lang="en-US" sz="2175" dirty="0"/>
          </a:p>
        </p:txBody>
      </p:sp>
      <p:sp>
        <p:nvSpPr>
          <p:cNvPr id="19" name="Shape 17"/>
          <p:cNvSpPr/>
          <p:nvPr/>
        </p:nvSpPr>
        <p:spPr>
          <a:xfrm>
            <a:off x="12120414" y="2562225"/>
            <a:ext cx="5291286" cy="2756297"/>
          </a:xfrm>
          <a:prstGeom prst="roundRect">
            <a:avLst>
              <a:gd name="adj" fmla="val 4838"/>
            </a:avLst>
          </a:prstGeom>
          <a:solidFill>
            <a:srgbClr val="111827"/>
          </a:solidFill>
          <a:ln w="9525">
            <a:solidFill>
              <a:srgbClr val="222C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96639" y="2819400"/>
            <a:ext cx="52127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8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CREDENTIALS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96639" y="3219450"/>
            <a:ext cx="4881001" cy="782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725" dirty="0">
                <a:solidFill>
                  <a:srgbClr val="E8ED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admin@example.com </a:t>
            </a:r>
            <a:pPr algn="l" indent="0" marL="0">
              <a:lnSpc>
                <a:spcPct val="170000"/>
              </a:lnSpc>
              <a:buNone/>
            </a:pPr>
            <a:r>
              <a:rPr lang="en-US" sz="17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admin123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12396639" y="4135636"/>
            <a:ext cx="4738836" cy="9525"/>
          </a:xfrm>
          <a:prstGeom prst="rect">
            <a:avLst/>
          </a:prstGeom>
          <a:solidFill>
            <a:srgbClr val="222C40"/>
          </a:solidFill>
          <a:ln/>
        </p:spPr>
      </p:sp>
      <p:sp>
        <p:nvSpPr>
          <p:cNvPr id="23" name="Text 21"/>
          <p:cNvSpPr/>
          <p:nvPr/>
        </p:nvSpPr>
        <p:spPr>
          <a:xfrm>
            <a:off x="12396639" y="4316611"/>
            <a:ext cx="4881001" cy="782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725" dirty="0">
                <a:solidFill>
                  <a:srgbClr val="E8ED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viewer@example.com </a:t>
            </a:r>
            <a:pPr algn="l" indent="0" marL="0">
              <a:lnSpc>
                <a:spcPct val="170000"/>
              </a:lnSpc>
              <a:buNone/>
            </a:pPr>
            <a:r>
              <a:rPr lang="en-US" sz="17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viewer123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12120414" y="5509022"/>
            <a:ext cx="5291286" cy="695325"/>
          </a:xfrm>
          <a:prstGeom prst="roundRect">
            <a:avLst>
              <a:gd name="adj" fmla="val 19178"/>
            </a:avLst>
          </a:prstGeom>
          <a:solidFill>
            <a:srgbClr val="111827"/>
          </a:solidFill>
          <a:ln w="9525">
            <a:solidFill>
              <a:srgbClr val="222C40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96639" y="5732859"/>
            <a:ext cx="247650" cy="24765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777639" y="5728097"/>
            <a:ext cx="184829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localhost:8080</a:t>
            </a:r>
            <a:endParaRPr lang="en-US" sz="15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762000"/>
            <a:ext cx="181889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&amp; BACKEND DESIGN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876300" y="1143000"/>
            <a:ext cx="181889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enforcement point, three thin adapters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876300" y="2190750"/>
            <a:ext cx="2893516" cy="942975"/>
          </a:xfrm>
          <a:prstGeom prst="roundRect">
            <a:avLst>
              <a:gd name="adj" fmla="val 12121"/>
            </a:avLst>
          </a:prstGeom>
          <a:solidFill>
            <a:srgbClr val="111827"/>
          </a:solidFill>
          <a:ln w="9525">
            <a:solidFill>
              <a:srgbClr val="222C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8787" y="2390775"/>
            <a:ext cx="28685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888787" y="2714625"/>
            <a:ext cx="28685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SPA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731716" y="2190750"/>
            <a:ext cx="4953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4188916" y="2190750"/>
            <a:ext cx="2893665" cy="942975"/>
          </a:xfrm>
          <a:prstGeom prst="roundRect">
            <a:avLst>
              <a:gd name="adj" fmla="val 12121"/>
            </a:avLst>
          </a:prstGeom>
          <a:solidFill>
            <a:srgbClr val="111827"/>
          </a:solidFill>
          <a:ln w="9525">
            <a:solidFill>
              <a:srgbClr val="222C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1396" y="2390775"/>
            <a:ext cx="28687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nginx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4201396" y="2714625"/>
            <a:ext cx="286870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 proxy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7044482" y="2190750"/>
            <a:ext cx="4953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7501682" y="2190750"/>
            <a:ext cx="3284786" cy="942975"/>
          </a:xfrm>
          <a:prstGeom prst="roundRect">
            <a:avLst>
              <a:gd name="adj" fmla="val 12121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4605" y="2390775"/>
            <a:ext cx="329893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BFF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494605" y="2714625"/>
            <a:ext cx="329893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enforcement point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0748367" y="2190750"/>
            <a:ext cx="4953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1205567" y="2190750"/>
            <a:ext cx="2893516" cy="942975"/>
          </a:xfrm>
          <a:prstGeom prst="roundRect">
            <a:avLst>
              <a:gd name="adj" fmla="val 12121"/>
            </a:avLst>
          </a:prstGeom>
          <a:solidFill>
            <a:srgbClr val="111827"/>
          </a:solidFill>
          <a:ln w="9525">
            <a:solidFill>
              <a:srgbClr val="222C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18054" y="2390775"/>
            <a:ext cx="28685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SDK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1218054" y="2714625"/>
            <a:ext cx="28685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 · GCS · Blob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4060984" y="2190750"/>
            <a:ext cx="4953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4518184" y="2190750"/>
            <a:ext cx="2893516" cy="942975"/>
          </a:xfrm>
          <a:prstGeom prst="roundRect">
            <a:avLst>
              <a:gd name="adj" fmla="val 12121"/>
            </a:avLst>
          </a:prstGeom>
          <a:solidFill>
            <a:srgbClr val="111827"/>
          </a:solidFill>
          <a:ln w="9525">
            <a:solidFill>
              <a:srgbClr val="222C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530670" y="2390775"/>
            <a:ext cx="28685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Emulator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4530670" y="2714625"/>
            <a:ext cx="28685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prod-identical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876300" y="3533775"/>
            <a:ext cx="8799314" cy="5991225"/>
          </a:xfrm>
          <a:prstGeom prst="roundRect">
            <a:avLst>
              <a:gd name="adj" fmla="val 2226"/>
            </a:avLst>
          </a:prstGeom>
          <a:solidFill>
            <a:srgbClr val="0C1322"/>
          </a:solidFill>
          <a:ln w="9525">
            <a:solidFill>
              <a:srgbClr val="222C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1575" y="3810000"/>
            <a:ext cx="90296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</a:t>
            </a:r>
            <a:pPr algn="l" indent="0" marL="0">
              <a:buNone/>
            </a:pPr>
            <a:r>
              <a:rPr lang="en-US" sz="195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storage.Provider </a:t>
            </a:r>
            <a:pPr algn="l" indent="0" marL="0">
              <a:buNone/>
            </a:pPr>
            <a:r>
              <a:rPr lang="en-US" sz="1950" b="1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171575" y="4219575"/>
            <a:ext cx="8455027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facade owns allow-listing, key sanitization &amp; TTL clamping. Adding a cloud = one ~100-line file.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171575" y="4977705"/>
            <a:ext cx="8208764" cy="1838325"/>
          </a:xfrm>
          <a:prstGeom prst="roundRect">
            <a:avLst>
              <a:gd name="adj" fmla="val 5181"/>
            </a:avLst>
          </a:prstGeom>
          <a:solidFill>
            <a:srgbClr val="06080F"/>
          </a:solidFill>
          <a:ln w="9525">
            <a:solidFill>
              <a:srgbClr val="222C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5158680"/>
            <a:ext cx="8054977" cy="15144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</a:t>
            </a:r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CBD5E1"/>
                </a:solidFill>
                <a:highlight>
                  <a:srgbClr val="06080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Provider </a:t>
            </a:r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interface </a:t>
            </a:r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CBD5E1"/>
                </a:solidFill>
                <a:highlight>
                  <a:srgbClr val="06080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</a:t>
            </a:r>
            <a:endParaRPr lang="en-US" sz="15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CBD5E1"/>
                </a:solidFill>
                <a:highlight>
                  <a:srgbClr val="06080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List(ctx, bucket, prefix)   ([]Object, </a:t>
            </a:r>
            <a:endParaRPr lang="en-US" sz="15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 </a:t>
            </a:r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CBD5E1"/>
                </a:solidFill>
                <a:highlight>
                  <a:srgbClr val="06080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CBD5E1"/>
                </a:solidFill>
                <a:highlight>
                  <a:srgbClr val="06080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Download(ctx, bucket, key)  (io.ReadCloser,  </a:t>
            </a:r>
            <a:endParaRPr lang="en-US" sz="15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 </a:t>
            </a:r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CBD5E1"/>
                </a:solidFill>
                <a:highlight>
                  <a:srgbClr val="06080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CBD5E1"/>
                </a:solidFill>
                <a:highlight>
                  <a:srgbClr val="06080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Presign(ctx, bucket, key, ttl) ( </a:t>
            </a:r>
            <a:endParaRPr lang="en-US" sz="15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</a:t>
            </a:r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CBD5E1"/>
                </a:solidFill>
                <a:highlight>
                  <a:srgbClr val="06080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 </a:t>
            </a:r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CBD5E1"/>
                </a:solidFill>
                <a:highlight>
                  <a:srgbClr val="06080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CBD5E1"/>
                </a:solidFill>
                <a:highlight>
                  <a:srgbClr val="06080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980414" y="3533775"/>
            <a:ext cx="7431286" cy="5991225"/>
          </a:xfrm>
          <a:prstGeom prst="roundRect">
            <a:avLst>
              <a:gd name="adj" fmla="val 2226"/>
            </a:avLst>
          </a:prstGeom>
          <a:solidFill>
            <a:srgbClr val="0C1322"/>
          </a:solidFill>
          <a:ln w="9525">
            <a:solidFill>
              <a:srgbClr val="222C40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5689" y="3833812"/>
            <a:ext cx="247650" cy="24765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0637639" y="3810000"/>
            <a:ext cx="29207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Dual-endpoint signing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0275689" y="4238625"/>
            <a:ext cx="7045958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Presigned URLs must open from the </a:t>
            </a:r>
            <a:pPr algn="l" indent="0" marL="0">
              <a:lnSpc>
                <a:spcPct val="150000"/>
              </a:lnSpc>
              <a:buNone/>
            </a:pPr>
            <a:r>
              <a:rPr lang="en-US" sz="1725" b="1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 </a:t>
            </a:r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but the BFF talks to internal hostnames. SigV4 / SAS sign the host — so I sign against </a:t>
            </a:r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localhost </a:t>
            </a:r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directly.</a:t>
            </a:r>
            <a:endParaRPr lang="en-US" sz="1725" dirty="0"/>
          </a:p>
        </p:txBody>
      </p:sp>
      <p:sp>
        <p:nvSpPr>
          <p:cNvPr id="32" name="Text 29"/>
          <p:cNvSpPr/>
          <p:nvPr/>
        </p:nvSpPr>
        <p:spPr>
          <a:xfrm>
            <a:off x="10275689" y="9010650"/>
            <a:ext cx="704595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rewrite a signed URL.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762000"/>
            <a:ext cx="181889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· AUTH &amp; AUTHZ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876300" y="1143000"/>
            <a:ext cx="181889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Defense in depth, every request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876300" y="2152650"/>
            <a:ext cx="1453158" cy="4953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222C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5375" y="2276475"/>
            <a:ext cx="1091208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RequestID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443758" y="2262188"/>
            <a:ext cx="1641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646015" y="2152650"/>
            <a:ext cx="1341686" cy="4953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222C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65090" y="2276475"/>
            <a:ext cx="979736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limit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102001" y="2262188"/>
            <a:ext cx="1641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04258" y="2152650"/>
            <a:ext cx="1415802" cy="495300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3333" y="2276475"/>
            <a:ext cx="1053852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auth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834360" y="2262188"/>
            <a:ext cx="1641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36618" y="2152650"/>
            <a:ext cx="1011585" cy="495300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5693" y="2276475"/>
            <a:ext cx="649635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RBAC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162502" y="2262188"/>
            <a:ext cx="1641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64760" y="2152650"/>
            <a:ext cx="1219051" cy="4953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9525">
            <a:solidFill>
              <a:srgbClr val="222C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3835" y="2276475"/>
            <a:ext cx="857101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Sanitize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698111" y="2262188"/>
            <a:ext cx="1641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900368" y="2152650"/>
            <a:ext cx="1215479" cy="495300"/>
          </a:xfrm>
          <a:prstGeom prst="roundRect">
            <a:avLst>
              <a:gd name="adj" fmla="val 50000"/>
            </a:avLst>
          </a:prstGeom>
          <a:solidFill>
            <a:srgbClr val="06080F"/>
          </a:solidFill>
          <a:ln w="9525">
            <a:solidFill>
              <a:srgbClr val="222C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19443" y="2276475"/>
            <a:ext cx="853529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Handler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76300" y="3028950"/>
            <a:ext cx="8153400" cy="3133725"/>
          </a:xfrm>
          <a:prstGeom prst="roundRect">
            <a:avLst>
              <a:gd name="adj" fmla="val 4255"/>
            </a:avLst>
          </a:prstGeom>
          <a:solidFill>
            <a:srgbClr val="0C1322"/>
          </a:solidFill>
          <a:ln w="9525">
            <a:solidFill>
              <a:srgbClr val="222C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1575" y="3286125"/>
            <a:ext cx="831913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HS256 — algorithm-pinned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1171575" y="3676650"/>
            <a:ext cx="7789736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Blocks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alg:none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confusion.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iss/aud/exp/nbf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1h TTL,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jti denylist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logout truly revokes.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9258300" y="3028950"/>
            <a:ext cx="8153400" cy="3133725"/>
          </a:xfrm>
          <a:prstGeom prst="roundRect">
            <a:avLst>
              <a:gd name="adj" fmla="val 4255"/>
            </a:avLst>
          </a:prstGeom>
          <a:solidFill>
            <a:srgbClr val="0C1322"/>
          </a:solidFill>
          <a:ln w="9525">
            <a:solidFill>
              <a:srgbClr val="222C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53575" y="3286125"/>
            <a:ext cx="831913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bcrypt + constant-time auth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9553575" y="3676650"/>
            <a:ext cx="7789736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user enumeration.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RBAC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admin/viewer → viewer scoped to AWS =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403 PROVIDER_NOT_ALLOWED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25" dirty="0"/>
          </a:p>
        </p:txBody>
      </p:sp>
      <p:sp>
        <p:nvSpPr>
          <p:cNvPr id="27" name="Shape 25"/>
          <p:cNvSpPr/>
          <p:nvPr/>
        </p:nvSpPr>
        <p:spPr>
          <a:xfrm>
            <a:off x="876300" y="6391275"/>
            <a:ext cx="8153400" cy="3133725"/>
          </a:xfrm>
          <a:prstGeom prst="roundRect">
            <a:avLst>
              <a:gd name="adj" fmla="val 4255"/>
            </a:avLst>
          </a:prstGeom>
          <a:solidFill>
            <a:srgbClr val="0C1322"/>
          </a:solidFill>
          <a:ln w="9525">
            <a:solidFill>
              <a:srgbClr val="222C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1575" y="6648450"/>
            <a:ext cx="831913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limiting &amp; IDOR defense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1171575" y="7038975"/>
            <a:ext cx="7789736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Keyed on real client IP (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X-Real-IP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the proxy). Path-traversal sanitizer; presigned URLs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logged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25" dirty="0"/>
          </a:p>
        </p:txBody>
      </p:sp>
      <p:sp>
        <p:nvSpPr>
          <p:cNvPr id="30" name="Shape 28"/>
          <p:cNvSpPr/>
          <p:nvPr/>
        </p:nvSpPr>
        <p:spPr>
          <a:xfrm>
            <a:off x="9258300" y="6391275"/>
            <a:ext cx="8153400" cy="3133725"/>
          </a:xfrm>
          <a:prstGeom prst="roundRect">
            <a:avLst>
              <a:gd name="adj" fmla="val 4255"/>
            </a:avLst>
          </a:prstGeom>
          <a:solidFill>
            <a:srgbClr val="0C1322"/>
          </a:solidFill>
          <a:ln w="9525">
            <a:solidFill>
              <a:srgbClr val="222C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53575" y="6648450"/>
            <a:ext cx="831913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Security-auditor pass</a:t>
            </a:r>
            <a:endParaRPr lang="en-US" sz="2025" dirty="0"/>
          </a:p>
        </p:txBody>
      </p:sp>
      <p:sp>
        <p:nvSpPr>
          <p:cNvPr id="32" name="Text 30"/>
          <p:cNvSpPr/>
          <p:nvPr/>
        </p:nvSpPr>
        <p:spPr>
          <a:xfrm>
            <a:off x="9553575" y="7038975"/>
            <a:ext cx="7789736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an adversarial audit and implemented its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MUST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— OWASP-mapped, with table-driven tests.</a:t>
            </a:r>
            <a:endParaRPr lang="en-US" sz="17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762000"/>
            <a:ext cx="181889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· CONTAINERS · BONUSES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876300" y="1143000"/>
            <a:ext cx="181889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Role-aware UI, zero-build deploy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876300" y="2152650"/>
            <a:ext cx="9549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876300" y="2571750"/>
            <a:ext cx="8942039" cy="717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18 + TS + Tailwind · </a:t>
            </a:r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Zustand </a:t>
            </a:r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(persisted session) + </a:t>
            </a:r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TanStack Query </a:t>
            </a:r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route guards · role-aware UI — hidden temp-link &amp; no-permission state for viewers.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876300" y="3498354"/>
            <a:ext cx="9549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Containers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876300" y="3917454"/>
            <a:ext cx="8942039" cy="717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Multi-stage </a:t>
            </a:r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distroless / non-root </a:t>
            </a:r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images. One command runs emulators + seeder + BFF + frontend. </a:t>
            </a:r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Published to Docker Hub </a:t>
            </a:r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run with zero build.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876300" y="4844058"/>
            <a:ext cx="9549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Bonuses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876300" y="5263158"/>
            <a:ext cx="8942039" cy="105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Terraform </a:t>
            </a:r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(S3 bucket + lifecycle + seed on LocalStack) · </a:t>
            </a:r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Actions </a:t>
            </a:r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(gofmt/vet/build, </a:t>
            </a:r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 test -race </a:t>
            </a:r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LocalStack smoke, image builds) · docker-publish pipeline.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9805541" y="2152650"/>
            <a:ext cx="7606159" cy="3600450"/>
          </a:xfrm>
          <a:prstGeom prst="roundRect">
            <a:avLst>
              <a:gd name="adj" fmla="val 3439"/>
            </a:avLst>
          </a:prstGeom>
          <a:ln w="9525">
            <a:solidFill>
              <a:srgbClr val="222C40"/>
            </a:solidFill>
            <a:prstDash val="solid"/>
          </a:ln>
          <a:effectLst>
            <a:outerShdw sx="100000" sy="100000" kx="0" ky="0" algn="bl" rotWithShape="0" blurRad="419100" dist="171450" dir="5400000">
              <a:srgbClr val="000000">
                <a:alpha val="50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5066" y="2162175"/>
            <a:ext cx="7587109" cy="450711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805541" y="5924550"/>
            <a:ext cx="7606159" cy="3600450"/>
          </a:xfrm>
          <a:prstGeom prst="roundRect">
            <a:avLst>
              <a:gd name="adj" fmla="val 3439"/>
            </a:avLst>
          </a:prstGeom>
          <a:ln w="9525">
            <a:solidFill>
              <a:srgbClr val="222C40"/>
            </a:solidFill>
            <a:prstDash val="solid"/>
          </a:ln>
          <a:effectLst>
            <a:outerShdw sx="100000" sy="100000" kx="0" ky="0" algn="bl" rotWithShape="0" blurRad="419100" dist="171450" dir="5400000">
              <a:srgbClr val="000000">
                <a:alpha val="5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5066" y="5934075"/>
            <a:ext cx="7587109" cy="45071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762000"/>
            <a:ext cx="181889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64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DECISIONS, TRADE-OFFS &amp; CLOSE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876300" y="1143000"/>
            <a:ext cx="181889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90" kern="0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Deliberate choices, honest trade-offs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876300" y="2657475"/>
            <a:ext cx="1352401" cy="9525"/>
          </a:xfrm>
          <a:prstGeom prst="rect">
            <a:avLst/>
          </a:prstGeom>
          <a:solidFill>
            <a:srgbClr val="222C4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2295525"/>
            <a:ext cx="142860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42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2495401" y="2657475"/>
            <a:ext cx="7041952" cy="9525"/>
          </a:xfrm>
          <a:prstGeom prst="rect">
            <a:avLst/>
          </a:prstGeom>
          <a:solidFill>
            <a:srgbClr val="222C40"/>
          </a:solidFill>
          <a:ln/>
        </p:spPr>
      </p:sp>
      <p:sp>
        <p:nvSpPr>
          <p:cNvPr id="7" name="Text 5"/>
          <p:cNvSpPr/>
          <p:nvPr/>
        </p:nvSpPr>
        <p:spPr>
          <a:xfrm>
            <a:off x="2495401" y="2295525"/>
            <a:ext cx="72532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142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876300" y="3278386"/>
            <a:ext cx="1352401" cy="9525"/>
          </a:xfrm>
          <a:prstGeom prst="rect">
            <a:avLst/>
          </a:prstGeom>
          <a:solidFill>
            <a:srgbClr val="161F31"/>
          </a:solidFill>
          <a:ln/>
        </p:spPr>
      </p:sp>
      <p:sp>
        <p:nvSpPr>
          <p:cNvPr id="9" name="Text 7"/>
          <p:cNvSpPr/>
          <p:nvPr/>
        </p:nvSpPr>
        <p:spPr>
          <a:xfrm>
            <a:off x="876300" y="2819400"/>
            <a:ext cx="1428601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2495401" y="3278386"/>
            <a:ext cx="7041952" cy="9525"/>
          </a:xfrm>
          <a:prstGeom prst="rect">
            <a:avLst/>
          </a:prstGeom>
          <a:solidFill>
            <a:srgbClr val="161F31"/>
          </a:solidFill>
          <a:ln/>
        </p:spPr>
      </p:sp>
      <p:sp>
        <p:nvSpPr>
          <p:cNvPr id="11" name="Text 9"/>
          <p:cNvSpPr/>
          <p:nvPr/>
        </p:nvSpPr>
        <p:spPr>
          <a:xfrm>
            <a:off x="2495401" y="2819400"/>
            <a:ext cx="7253210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io.Copy</a:t>
            </a:r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first-party SDKs, static distroless binary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876300" y="3899297"/>
            <a:ext cx="1352401" cy="9525"/>
          </a:xfrm>
          <a:prstGeom prst="rect">
            <a:avLst/>
          </a:prstGeom>
          <a:solidFill>
            <a:srgbClr val="161F31"/>
          </a:solidFill>
          <a:ln/>
        </p:spPr>
      </p:sp>
      <p:sp>
        <p:nvSpPr>
          <p:cNvPr id="13" name="Text 11"/>
          <p:cNvSpPr/>
          <p:nvPr/>
        </p:nvSpPr>
        <p:spPr>
          <a:xfrm>
            <a:off x="876300" y="3440311"/>
            <a:ext cx="1428601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+ RBAC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2495401" y="3899297"/>
            <a:ext cx="7041952" cy="9525"/>
          </a:xfrm>
          <a:prstGeom prst="rect">
            <a:avLst/>
          </a:prstGeom>
          <a:solidFill>
            <a:srgbClr val="161F31"/>
          </a:solidFill>
          <a:ln/>
        </p:spPr>
      </p:sp>
      <p:sp>
        <p:nvSpPr>
          <p:cNvPr id="15" name="Text 13"/>
          <p:cNvSpPr/>
          <p:nvPr/>
        </p:nvSpPr>
        <p:spPr>
          <a:xfrm>
            <a:off x="2495401" y="3440311"/>
            <a:ext cx="7253210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yet simple, stateless — right-sized vs. full OIDC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876300" y="4520208"/>
            <a:ext cx="1352401" cy="9525"/>
          </a:xfrm>
          <a:prstGeom prst="rect">
            <a:avLst/>
          </a:prstGeom>
          <a:solidFill>
            <a:srgbClr val="161F31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4061222"/>
            <a:ext cx="1428601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Emulators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2495401" y="4520208"/>
            <a:ext cx="7041952" cy="9525"/>
          </a:xfrm>
          <a:prstGeom prst="rect">
            <a:avLst/>
          </a:prstGeom>
          <a:solidFill>
            <a:srgbClr val="161F31"/>
          </a:solidFill>
          <a:ln/>
        </p:spPr>
      </p:sp>
      <p:sp>
        <p:nvSpPr>
          <p:cNvPr id="19" name="Text 17"/>
          <p:cNvSpPr/>
          <p:nvPr/>
        </p:nvSpPr>
        <p:spPr>
          <a:xfrm>
            <a:off x="2495401" y="4061222"/>
            <a:ext cx="7253210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Production-identical code — swap one endpoint for real cloud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876300" y="4682133"/>
            <a:ext cx="1428601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Self-review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2495401" y="4682133"/>
            <a:ext cx="7253210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Adversarial pass caught &amp; fixed real issues; clean history</a:t>
            </a:r>
            <a:endParaRPr lang="en-US" sz="1725" dirty="0"/>
          </a:p>
        </p:txBody>
      </p:sp>
      <p:sp>
        <p:nvSpPr>
          <p:cNvPr id="22" name="Shape 20"/>
          <p:cNvSpPr/>
          <p:nvPr/>
        </p:nvSpPr>
        <p:spPr>
          <a:xfrm>
            <a:off x="9880253" y="2152650"/>
            <a:ext cx="7531447" cy="1853208"/>
          </a:xfrm>
          <a:prstGeom prst="roundRect">
            <a:avLst>
              <a:gd name="adj" fmla="val 7196"/>
            </a:avLst>
          </a:prstGeom>
          <a:solidFill>
            <a:srgbClr val="0C1322"/>
          </a:solidFill>
          <a:ln w="9525">
            <a:solidFill>
              <a:srgbClr val="222C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56478" y="2390775"/>
            <a:ext cx="767689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126" kern="0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PATH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10156478" y="2762250"/>
            <a:ext cx="7188367" cy="1043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GCS real V4 signing (SA key) · httpOnly cookies vs localStorage · persistent users + OIDC · Redis-backed denylist · cloud IAM least-privilege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9880253" y="8448675"/>
            <a:ext cx="7531447" cy="1076325"/>
          </a:xfrm>
          <a:prstGeom prst="roundRect">
            <a:avLst>
              <a:gd name="adj" fmla="val 12389"/>
            </a:avLst>
          </a:prstGeom>
          <a:solidFill>
            <a:srgbClr val="111827"/>
          </a:solidFill>
          <a:ln w="9525">
            <a:solidFill>
              <a:srgbClr val="222C40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56478" y="8701088"/>
            <a:ext cx="228600" cy="2286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508903" y="8686800"/>
            <a:ext cx="55447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E8ED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github.com/pedrohrbispo/cloud-logs-service</a:t>
            </a:r>
            <a:endParaRPr lang="en-US" sz="1575" dirty="0"/>
          </a:p>
        </p:txBody>
      </p:sp>
      <p:sp>
        <p:nvSpPr>
          <p:cNvPr id="28" name="Text 25"/>
          <p:cNvSpPr/>
          <p:nvPr/>
        </p:nvSpPr>
        <p:spPr>
          <a:xfrm>
            <a:off x="10156478" y="9039225"/>
            <a:ext cx="767689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Images on Docker Hub — </a:t>
            </a:r>
            <a:pPr algn="l" indent="0" marL="0">
              <a:buNone/>
            </a:pPr>
            <a:r>
              <a:rPr lang="en-US" sz="1650" dirty="0">
                <a:solidFill>
                  <a:srgbClr val="E8ED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happy to dive into any part of the code.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2026-06-30T15:48:59Z</dcterms:created>
  <dcterms:modified xsi:type="dcterms:W3CDTF">2026-06-30T15:48:59Z</dcterms:modified>
</cp:coreProperties>
</file>